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317503"/>
            <a:ext cx="10668000" cy="790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1749772"/>
            <a:ext cx="3762375" cy="390525"/>
          </a:xfrm>
          <a:prstGeom prst="roundRect">
            <a:avLst>
              <a:gd name="adj" fmla="val 50000"/>
            </a:avLst>
          </a:prstGeom>
          <a:solidFill>
            <a:srgbClr val="1A2D58"/>
          </a:solidFill>
          <a:ln w="9525">
            <a:solidFill>
              <a:srgbClr val="2D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317503"/>
            <a:ext cx="10668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71900" y="4684216"/>
            <a:ext cx="19050" cy="381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43875" y="4684216"/>
            <a:ext cx="19050" cy="381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1873597"/>
            <a:ext cx="2190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368897"/>
            <a:ext cx="11430000" cy="607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Plus Jakarta Sans"/>
              </a:rPr>
              <a:t>Algoritmos Básicos de </a:t>
            </a:r>
            <a:r>
              <a:rPr sz="4350" b="1" i="0" u="none">
                <a:solidFill>
                  <a:srgbClr val="38BDF8"/>
                </a:solidFill>
                <a:latin typeface="Plus Jakarta Sans"/>
              </a:rPr>
              <a:t>Ordenamiento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67062"/>
            <a:ext cx="866775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94A3B8"/>
                </a:solidFill>
                <a:latin typeface="Plus Jakarta Sans"/>
              </a:rPr>
              <a:t>Análisis, simulación interactiva y comparación práctica de Burbuja, Inserción y Selección.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825972"/>
            <a:ext cx="3476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Plus Jakarta Sans"/>
              </a:rPr>
              <a:t>ESTRUCTURAS DE DATOS &amp;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641353"/>
            <a:ext cx="319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PRESENTA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841378"/>
            <a:ext cx="3190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Yair Ledesma Maldonado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150" y="4641353"/>
            <a:ext cx="4298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DOCENTE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150" y="4841378"/>
            <a:ext cx="429815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Ing. María de Monserrath Guerrero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0125" y="4641353"/>
            <a:ext cx="1774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FECHA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0125" y="4841378"/>
            <a:ext cx="17740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647950"/>
            <a:ext cx="4568576" cy="270510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876" y="2433637"/>
            <a:ext cx="5299323" cy="3133725"/>
          </a:xfrm>
          <a:prstGeom prst="roundRect">
            <a:avLst>
              <a:gd name="adj" fmla="val 72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49776" y="35194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49876" y="35194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49976" y="35194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50076" y="35194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50176" y="35194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49776" y="46243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49876" y="46243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49976" y="46243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50076" y="46243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0176" y="4624387"/>
            <a:ext cx="685800" cy="600075"/>
          </a:xfrm>
          <a:prstGeom prst="roundRect">
            <a:avLst>
              <a:gd name="adj" fmla="val 19047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1500"/>
            <a:ext cx="204787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176" y="38290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3009900"/>
            <a:ext cx="533400" cy="533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" y="3152775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533400"/>
            <a:ext cx="11506200" cy="219075"/>
          </a:xfrm>
          <a:prstGeom prst="rect">
            <a:avLst/>
          </a:prstGeom>
          <a:noFill/>
        </p:spPr>
        <p:txBody>
          <a:bodyPr wrap="none" lIns="280987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CASO DE ESTUDIO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28675"/>
            <a:ext cx="115062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Organización de Precios en Papelería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3733800"/>
            <a:ext cx="3939926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Ordenar </a:t>
            </a:r>
            <a:r>
              <a:rPr sz="1650" b="1" i="0" u="none">
                <a:solidFill>
                  <a:srgbClr val="475569"/>
                </a:solidFill>
                <a:latin typeface="Plus Jakarta Sans"/>
              </a:rPr>
              <a:t>5 precios desordenados</a:t>
            </a:r>
            <a:r>
              <a:rPr sz="1650" b="0" i="0" u="none">
                <a:solidFill>
                  <a:srgbClr val="475569"/>
                </a:solidFill>
                <a:latin typeface="Plus Jakarta Sans"/>
              </a:rPr>
              <a:t> de artículos de papelería para localizar importes de menor a mayor en memoria.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9776" y="2776537"/>
            <a:ext cx="564222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4A3B8"/>
                </a:solidFill>
                <a:latin typeface="Plus Jakarta Sans"/>
              </a:rPr>
              <a:t>ESTADO DE LA LISTA EN MEMORIA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3550" y="3109912"/>
            <a:ext cx="124015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Plus Jakarta Sans"/>
              </a:rPr>
              <a:t>El Reto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9776" y="3243262"/>
            <a:ext cx="56422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Plus Jakarta Sans"/>
              </a:rPr>
              <a:t>ENTRADA INICIAL ($):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9776" y="4348162"/>
            <a:ext cx="56422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Plus Jakarta Sans"/>
              </a:rPr>
              <a:t>SALIDA ESPERADA ($):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0276" y="36528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JetBrains Mono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0376" y="36528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JetBrains Mono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0476" y="36528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JetBrains Mono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0576" y="36528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0676" y="36528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JetBrains Mono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0276" y="47577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4D399"/>
                </a:solidFill>
                <a:latin typeface="JetBrai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0376" y="47577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4D399"/>
                </a:solidFill>
                <a:latin typeface="JetBrains Mono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476" y="47577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4D399"/>
                </a:solidFill>
                <a:latin typeface="JetBrains Mono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0576" y="47577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4D399"/>
                </a:solidFill>
                <a:latin typeface="JetBrains Mono"/>
              </a:rPr>
              <a:t>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0676" y="4757737"/>
            <a:ext cx="4000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4D399"/>
                </a:solidFill>
                <a:latin typeface="JetBrains Mono"/>
              </a:rPr>
              <a:t>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62225"/>
            <a:ext cx="3454449" cy="2914650"/>
          </a:xfrm>
          <a:prstGeom prst="roundRect">
            <a:avLst>
              <a:gd name="adj" fmla="val 7843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562225"/>
            <a:ext cx="3454449" cy="2914650"/>
          </a:xfrm>
          <a:prstGeom prst="roundRect">
            <a:avLst>
              <a:gd name="adj" fmla="val 7843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562225"/>
            <a:ext cx="3454449" cy="2914650"/>
          </a:xfrm>
          <a:prstGeom prst="roundRect">
            <a:avLst>
              <a:gd name="adj" fmla="val 7843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1500"/>
            <a:ext cx="204787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050" y="2924175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2924175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149" y="2924175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0550" y="311467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4550" y="3114675"/>
            <a:ext cx="3429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5699" y="3114675"/>
            <a:ext cx="2667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33400"/>
            <a:ext cx="11506200" cy="219075"/>
          </a:xfrm>
          <a:prstGeom prst="rect">
            <a:avLst/>
          </a:prstGeom>
          <a:noFill/>
        </p:spPr>
        <p:txBody>
          <a:bodyPr wrap="none" lIns="280987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ARQUITECTURA DEL ESTUDIO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828675"/>
            <a:ext cx="115062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3 Algoritmos Fundamentales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089" y="3838575"/>
            <a:ext cx="378387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50" b="1" i="0" u="none">
                <a:solidFill>
                  <a:srgbClr val="1E3A8A"/>
                </a:solidFill>
                <a:latin typeface="Plus Jakarta Sans"/>
              </a:rPr>
              <a:t>Burbuja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181" y="4314825"/>
            <a:ext cx="3603687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1" i="0" u="none">
                <a:solidFill>
                  <a:srgbClr val="1E40AF"/>
                </a:solidFill>
                <a:latin typeface="Plus Jakarta Sans"/>
              </a:rPr>
              <a:t>Compara pares de vecinos y los intercambia. Los mayores "flotan" al final.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4138" y="3838575"/>
            <a:ext cx="378387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50" b="1" i="0" u="none">
                <a:solidFill>
                  <a:srgbClr val="064E3B"/>
                </a:solidFill>
                <a:latin typeface="Plus Jakarta Sans"/>
              </a:rPr>
              <a:t>Inserción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4230" y="4314825"/>
            <a:ext cx="3603687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1" i="0" u="none">
                <a:solidFill>
                  <a:srgbClr val="065F46"/>
                </a:solidFill>
                <a:latin typeface="Plus Jakarta Sans"/>
              </a:rPr>
              <a:t>Toma una clave temporal, desplaza los mayores e inserta en el hueco exacto.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7188" y="3838575"/>
            <a:ext cx="378387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50" b="1" i="0" u="none">
                <a:solidFill>
                  <a:srgbClr val="78350F"/>
                </a:solidFill>
                <a:latin typeface="Plus Jakarta Sans"/>
              </a:rPr>
              <a:t>Selección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7280" y="4314825"/>
            <a:ext cx="3603687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1" i="0" u="none">
                <a:solidFill>
                  <a:srgbClr val="92400E"/>
                </a:solidFill>
                <a:latin typeface="Plus Jakarta Sans"/>
              </a:rPr>
              <a:t>Busca el elemento menor de todo el tramo y hace 1 solo intercambio directo.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743575"/>
            <a:ext cx="10820400" cy="581025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05950" y="638175"/>
            <a:ext cx="2000250" cy="4572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819275"/>
            <a:ext cx="108204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3009900"/>
            <a:ext cx="10820400" cy="1000125"/>
          </a:xfrm>
          <a:prstGeom prst="roundRect">
            <a:avLst>
              <a:gd name="adj" fmla="val 15238"/>
            </a:avLst>
          </a:prstGeom>
          <a:solidFill>
            <a:srgbClr val="EFF6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4200525"/>
            <a:ext cx="10820400" cy="1000125"/>
          </a:xfrm>
          <a:prstGeom prst="roundRect">
            <a:avLst>
              <a:gd name="adj" fmla="val 15238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743575"/>
            <a:ext cx="5715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5275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8620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1965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5310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8655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5275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8620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1965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5310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8655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5275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88620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1965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5310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8655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5953125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34550" y="733425"/>
            <a:ext cx="1638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Plus Jakarta Sans"/>
              </a:rPr>
              <a:t>19 Pasos en GUI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5915025"/>
            <a:ext cx="11182350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Métrica: 10 comparaciones y 7 intercambios. La versión optimizada finaliza antes si no detecta cambios.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3400"/>
            <a:ext cx="6988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ALGORITMO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752475"/>
            <a:ext cx="733841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Simulación: Método de Burbuja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650" y="2185987"/>
            <a:ext cx="2143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4748B"/>
                </a:solidFill>
                <a:latin typeface="Plus Jakarta Sans"/>
              </a:rPr>
              <a:t>INICIO: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50" y="3243262"/>
            <a:ext cx="1809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4ED8"/>
                </a:solidFill>
                <a:latin typeface="Plus Jakarta Sans"/>
              </a:rPr>
              <a:t>PASADA 1 (50-&gt;Fin):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650" y="4567237"/>
            <a:ext cx="2143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5803D"/>
                </a:solidFill>
                <a:latin typeface="Plus Jakarta Sans"/>
              </a:rPr>
              <a:t>ORDENADO: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135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825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170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515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135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6A34A"/>
                </a:solidFill>
                <a:latin typeface="JetBrains Mono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6A34A"/>
                </a:solidFill>
                <a:latin typeface="JetBrains Mono"/>
              </a:rPr>
              <a:t>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825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6A34A"/>
                </a:solidFill>
                <a:latin typeface="JetBrains Mono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170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6A34A"/>
                </a:solidFill>
                <a:latin typeface="JetBrains Mono"/>
              </a:rP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515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8135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JetBrains Mono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JetBrains Mono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825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JetBrains Mono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170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JetBrains Mono"/>
              </a:rPr>
              <a:t>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515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JetBrains Mono"/>
              </a:rPr>
              <a:t>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743575"/>
            <a:ext cx="10820400" cy="581025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67850" y="638175"/>
            <a:ext cx="2038350" cy="4572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781175"/>
            <a:ext cx="10820400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3009900"/>
            <a:ext cx="10820400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4238625"/>
            <a:ext cx="10820400" cy="1000125"/>
          </a:xfrm>
          <a:prstGeom prst="roundRect">
            <a:avLst>
              <a:gd name="adj" fmla="val 15238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743575"/>
            <a:ext cx="57150" cy="5810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3750" y="1990725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67200" y="1990725"/>
            <a:ext cx="981075" cy="619125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00675" y="1990725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34125" y="1990725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67575" y="1990725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3750" y="3219450"/>
            <a:ext cx="981075" cy="619125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67225" y="3219450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00675" y="3219450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34125" y="3219450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67575" y="3219450"/>
            <a:ext cx="78105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33750" y="44481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67200" y="44481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00650" y="44481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34100" y="44481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67550" y="44481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5953125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6450" y="733425"/>
            <a:ext cx="16764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5803D"/>
                </a:solidFill>
                <a:latin typeface="Plus Jakarta Sans"/>
              </a:rPr>
              <a:t>26 Pasos en GUI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5915025"/>
            <a:ext cx="11182350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Métrica: 9 comparaciones y 7 desplazamientos. Reemplaza los intercambios dobles por copias simples.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3400"/>
            <a:ext cx="7322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ALGORITMO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752475"/>
            <a:ext cx="768846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Simulación: Método de Inserción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650" y="2081212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CLAVE TEMPORAL: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50" y="2281237"/>
            <a:ext cx="261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1. Extrae Clave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2350" y="2105025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800" y="2105025"/>
            <a:ext cx="619125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JetBrains Mono"/>
              </a:rPr>
              <a:t>20*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9275" y="2105025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2725" y="2105025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6175" y="2105025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650" y="3309937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DESPLAZA A LA DERECHA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650" y="3509962"/>
            <a:ext cx="261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2. Copia 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2350" y="3333750"/>
            <a:ext cx="619125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JetBrains Mono"/>
              </a:rPr>
              <a:t>50*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5825" y="3333750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40AF"/>
                </a:solidFill>
                <a:latin typeface="JetBrains Mono"/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9275" y="3333750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2725" y="3333750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6175" y="3333750"/>
            <a:ext cx="4191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650" y="4519612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Plus Jakarta Sans"/>
              </a:rPr>
              <a:t>INSERTA EN HUECO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650" y="4719637"/>
            <a:ext cx="261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Plus Jakarta Sans"/>
              </a:rPr>
              <a:t>3. Coloca 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2350" y="45624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5800" y="45624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9250" y="45624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2700" y="45624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96150" y="45624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743575"/>
            <a:ext cx="10820400" cy="581025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48800" y="638175"/>
            <a:ext cx="2057400" cy="45720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819275"/>
            <a:ext cx="108204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3009900"/>
            <a:ext cx="108204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4200525"/>
            <a:ext cx="108204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743575"/>
            <a:ext cx="5715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375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6720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0065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3410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67550" y="202882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375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6720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0065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3410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67550" y="3219450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3375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6720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0065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3410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67550" y="4410075"/>
            <a:ext cx="781050" cy="581025"/>
          </a:xfrm>
          <a:prstGeom prst="roundRect">
            <a:avLst>
              <a:gd name="adj" fmla="val 16393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5953125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77400" y="733425"/>
            <a:ext cx="16954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2400E"/>
                </a:solidFill>
                <a:latin typeface="Plus Jakarta Sans"/>
              </a:rPr>
              <a:t>24 Pasos en GUI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5915025"/>
            <a:ext cx="11182350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Métrica: 10 comparaciones y solo 3 intercambios en total. Mínima escritura en memoria.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3400"/>
            <a:ext cx="74652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97706"/>
                </a:solidFill>
                <a:latin typeface="Plus Jakarta Sans"/>
              </a:rPr>
              <a:t>ALGORITMO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752475"/>
            <a:ext cx="7838479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Simulación: Método de Selección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650" y="2100262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Plus Jakarta Sans"/>
              </a:rPr>
              <a:t>BUSCA MÍNIMO: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50" y="2300287"/>
            <a:ext cx="261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Intercambia 50 y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235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JetBrai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80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925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270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6150" y="214312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650" y="3290887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20 YA EN LUGAR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650" y="3490912"/>
            <a:ext cx="261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Sin Intercambio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235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580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25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270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150" y="3333750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650" y="4481512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Plus Jakarta Sans"/>
              </a:rPr>
              <a:t>BUSCA MÍNIMO: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650" y="4681537"/>
            <a:ext cx="261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Intercambia 40 y 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235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580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925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JetBrains Mono"/>
              </a:rPr>
              <a:t>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270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JetBrains Mono"/>
              </a:rPr>
              <a:t>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96150" y="4524375"/>
            <a:ext cx="4191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JetBrains Mono"/>
              </a:rPr>
              <a:t>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1500"/>
            <a:ext cx="166687" cy="171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33962"/>
            <a:ext cx="200025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7187"/>
            <a:ext cx="2571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00412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004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7187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33962"/>
            <a:ext cx="200025" cy="2286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333625"/>
          <a:ext cx="10820396" cy="3295650"/>
        </p:xfrm>
        <a:graphic>
          <a:graphicData uri="http://schemas.openxmlformats.org/drawingml/2006/table">
            <a:tbl>
              <a:tblPr/>
              <a:tblGrid>
                <a:gridCol w="2118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9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5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8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ALGORITMO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COMPARACIONES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INTERCAMBIOS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DESPLAZAMIENTOS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PASOS GUI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Burbuja</a:t>
                      </a:r>
                    </a:p>
                  </a:txBody>
                  <a:tcPr marL="4572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EF4444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19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Inserción</a:t>
                      </a:r>
                    </a:p>
                  </a:txBody>
                  <a:tcPr marL="4857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59669"/>
                          </a:solidFill>
                          <a:latin typeface="JetBrains Mono"/>
                        </a:rPr>
                        <a:t>9 (Mínimo)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4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Selección</a:t>
                      </a:r>
                    </a:p>
                  </a:txBody>
                  <a:tcPr marL="4286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59669"/>
                          </a:solidFill>
                          <a:latin typeface="JetBrains Mono"/>
                        </a:rPr>
                        <a:t>3 (Mínimo)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33400"/>
            <a:ext cx="11506200" cy="219075"/>
          </a:xfrm>
          <a:prstGeom prst="rect">
            <a:avLst/>
          </a:prstGeom>
          <a:noFill/>
        </p:spPr>
        <p:txBody>
          <a:bodyPr wrap="none" lIns="242887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RENDIMIENTO CUANTITATIVO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828675"/>
            <a:ext cx="115062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Comparativa de Operaciones Reales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62225"/>
            <a:ext cx="3429000" cy="2876550"/>
          </a:xfrm>
          <a:prstGeom prst="roundRect">
            <a:avLst>
              <a:gd name="adj" fmla="val 794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2428875"/>
            <a:ext cx="3429000" cy="3143250"/>
          </a:xfrm>
          <a:prstGeom prst="roundRect">
            <a:avLst>
              <a:gd name="adj" fmla="val 7272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62225"/>
            <a:ext cx="3429000" cy="2876550"/>
          </a:xfrm>
          <a:prstGeom prst="roundRect">
            <a:avLst>
              <a:gd name="adj" fmla="val 794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1500"/>
            <a:ext cx="185737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219075"/>
          </a:xfrm>
          <a:prstGeom prst="rect">
            <a:avLst/>
          </a:prstGeom>
          <a:noFill/>
        </p:spPr>
        <p:txBody>
          <a:bodyPr wrap="none" lIns="261937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ANÁLISIS ASINTÓTICO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28675"/>
            <a:ext cx="115062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Plus Jakarta Sans"/>
              </a:rPr>
              <a:t>Complejidad Algorítmica (Big 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362" y="2924175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4D399"/>
                </a:solidFill>
                <a:latin typeface="Plus Jakarta Sans"/>
              </a:rPr>
              <a:t>MEJOR CASO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362" y="3257550"/>
            <a:ext cx="3571875" cy="904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34D399"/>
                </a:solidFill>
                <a:latin typeface="JetBrains Mono"/>
              </a:rPr>
              <a:t>O(n)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362" y="4276725"/>
            <a:ext cx="35718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Burbuja e Inserción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aprovechan listas ya ordenadas terminando en 1 sola pasada.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0062" y="2790825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7171"/>
                </a:solidFill>
                <a:latin typeface="Plus Jakarta Sans"/>
              </a:rPr>
              <a:t>CASO PROMEDIO / PEOR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0062" y="3124200"/>
            <a:ext cx="3571875" cy="904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7171"/>
                </a:solidFill>
                <a:latin typeface="JetBrains Mono"/>
              </a:rPr>
              <a:t>O(n²)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0062" y="4143375"/>
            <a:ext cx="3571875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Crecimiento cuadrático. Requieren realizar comparaciones iterativas en listas desordenadas.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5762" y="2924175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lus Jakarta Sans"/>
              </a:rPr>
              <a:t>ESPACIO MEMORIA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5762" y="3257550"/>
            <a:ext cx="3571875" cy="904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38BDF8"/>
                </a:solidFill>
                <a:latin typeface="JetBrains Mono"/>
              </a:rPr>
              <a:t>O(1)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5762" y="4276725"/>
            <a:ext cx="35718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In-Place: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Memoria constante auxiliar sin necesidad de duplicar estructuras.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414587"/>
            <a:ext cx="5257800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509962"/>
            <a:ext cx="5257800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605337"/>
            <a:ext cx="5257800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2552700"/>
            <a:ext cx="5257800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3648075"/>
            <a:ext cx="5257800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400" y="4743450"/>
            <a:ext cx="5257800" cy="66675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1500"/>
            <a:ext cx="185737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400"/>
            <a:ext cx="11506200" cy="219075"/>
          </a:xfrm>
          <a:prstGeom prst="rect">
            <a:avLst/>
          </a:prstGeom>
          <a:noFill/>
        </p:spPr>
        <p:txBody>
          <a:bodyPr wrap="none" lIns="261937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VALIDACIÓN PRÁCTICA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8675"/>
            <a:ext cx="115062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Pruebas de Robustez (30 Ejecuciones)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2624137"/>
            <a:ext cx="5953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1. Lista en Orden Inverso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928937"/>
            <a:ext cx="5953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JetBrains Mono"/>
              </a:rPr>
              <a:t>[50, 40, 30, 20, 10] ➔ Éxito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719512"/>
            <a:ext cx="5953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2. Elementos Repetidos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024312"/>
            <a:ext cx="5953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JetBrains Mono"/>
              </a:rPr>
              <a:t>[30, 10, 30, 20, 10] ➔ Éxito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814887"/>
            <a:ext cx="5953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3. Caso Un Solo Elemento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5119687"/>
            <a:ext cx="5953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JetBrains Mono"/>
              </a:rPr>
              <a:t>[25] ➔ Conserva posición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2762250"/>
            <a:ext cx="56959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4. Números Negativos y Cero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6050" y="3067050"/>
            <a:ext cx="56959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JetBrains Mono"/>
              </a:rPr>
              <a:t>[-5, 0, -10, 5] ➔ [-10, -5, 0, 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3857625"/>
            <a:ext cx="56959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5. Lista Vacía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6050" y="4162425"/>
            <a:ext cx="56959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JetBrains Mono"/>
              </a:rPr>
              <a:t>[] ➔ Manejo correcto sin errores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6925" y="4933950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Plus Jakarta Sans"/>
              </a:rPr>
              <a:t>100% de Pruebas Superadas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44021" y="2579340"/>
            <a:ext cx="5762178" cy="2804070"/>
          </a:xfrm>
          <a:prstGeom prst="roundRect">
            <a:avLst>
              <a:gd name="adj" fmla="val 67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10721" y="3503265"/>
            <a:ext cx="5228778" cy="1209675"/>
          </a:xfrm>
          <a:prstGeom prst="roundRect">
            <a:avLst>
              <a:gd name="adj" fmla="val 944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676525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3609975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4543425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10721" y="284604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1221" y="284604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91721" y="284604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96248" y="4008090"/>
            <a:ext cx="609600" cy="514350"/>
          </a:xfrm>
          <a:prstGeom prst="roundRect">
            <a:avLst>
              <a:gd name="adj" fmla="val 14814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01098" y="4008090"/>
            <a:ext cx="628650" cy="514350"/>
          </a:xfrm>
          <a:prstGeom prst="roundRect">
            <a:avLst>
              <a:gd name="adj" fmla="val 14814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24998" y="4008090"/>
            <a:ext cx="590550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10798" y="4008090"/>
            <a:ext cx="628650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34698" y="4008090"/>
            <a:ext cx="619125" cy="514350"/>
          </a:xfrm>
          <a:prstGeom prst="roundRect">
            <a:avLst>
              <a:gd name="adj" fmla="val 1481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1500"/>
            <a:ext cx="204787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533400"/>
            <a:ext cx="11506200" cy="219075"/>
          </a:xfrm>
          <a:prstGeom prst="rect">
            <a:avLst/>
          </a:prstGeom>
          <a:noFill/>
        </p:spPr>
        <p:txBody>
          <a:bodyPr wrap="none" lIns="280987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IMPLEMENTACIÓN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828675"/>
            <a:ext cx="115062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Simulador Visual Interactivo (Tkinter)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0721" y="3150840"/>
            <a:ext cx="61812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JetBrains Mono"/>
              </a:rPr>
              <a:t>Simulador Tkinter - burbuja.py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124" y="4903440"/>
            <a:ext cx="6535973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"Paso 4 de 19: El elemento 50 ha llegado al final del tramo."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267652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" y="360997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454342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2563EB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5249" y="3693765"/>
            <a:ext cx="60597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Posiciones 0 a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" y="2676525"/>
            <a:ext cx="54887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Sin Librerías Externas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2981325"/>
            <a:ext cx="427717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Desarrollado en Python 3 nativo usando Tkinter (Label, Button, Frame).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3609975"/>
            <a:ext cx="54887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Código Cromático Semántico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" y="3914775"/>
            <a:ext cx="427717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Azul celeste para comparaciones, durazno para claves/huecos temporales.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7300" y="4543425"/>
            <a:ext cx="54887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Control de Ejecución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4848225"/>
            <a:ext cx="427717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Navegación 'Siguiente paso' y botón 'Reiniciar' para explicaciones académicas.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4823" y="4122390"/>
            <a:ext cx="55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9673" y="412239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3573" y="4122390"/>
            <a:ext cx="533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9373" y="412239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3273" y="4122390"/>
            <a:ext cx="5619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Plus Jakarta Sans"/>
              </a:rPr>
              <a:t>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638300"/>
            <a:ext cx="3454449" cy="46863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1638300"/>
            <a:ext cx="3454449" cy="46863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1638300"/>
            <a:ext cx="3454449" cy="46863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1500"/>
            <a:ext cx="147637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200977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499" y="2009775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549" y="2009775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400"/>
            <a:ext cx="11506200" cy="2190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CIERRE ACADÉMICO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8675"/>
            <a:ext cx="115062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Conclusiones del Estudio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2495550"/>
            <a:ext cx="388388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Burbuja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895600"/>
            <a:ext cx="30543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Ideal para enseñanza conceptual. Detección rápida si los datos ya están ordenados, pero ineficiente en datos muy desordenados (7 intercambios).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6499" y="2495550"/>
            <a:ext cx="388388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Inserción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6499" y="2895600"/>
            <a:ext cx="30543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El más eficiente del grupo en comparaciones (9 en total). Excelente desempeño en listas casi ordenadas y conjuntos pequeños.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9549" y="2495550"/>
            <a:ext cx="388388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Selección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549" y="2895600"/>
            <a:ext cx="30543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Ofrece escritura mínima en memoria (solo 3 intercambios). Ideal cuando escribir en memoria RAM o disco es una operación costosa.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090737" y="4567237"/>
            <a:ext cx="8010525" cy="542925"/>
          </a:xfrm>
          <a:prstGeom prst="roundRect">
            <a:avLst>
              <a:gd name="adj" fmla="val 28070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747837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93833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5062" y="4757737"/>
            <a:ext cx="161925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57957" y="2738437"/>
            <a:ext cx="8676084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¡Gracias por su Atención!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8812" y="3557587"/>
            <a:ext cx="833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94A3B8"/>
                </a:solidFill>
                <a:latin typeface="Plus Jakarta Sans"/>
              </a:rPr>
              <a:t>¿Dudas o comentarios sobre la simulación de algoritmos de ordenamiento?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4221" y="4719637"/>
            <a:ext cx="940355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JetBrains Mono"/>
              </a:rPr>
              <a:t> github.com/Omega-bl/-Algoritmos-b-sicos-de-ordenamiento--Simulaci-n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716</Words>
  <Application>Microsoft Office PowerPoint</Application>
  <PresentationFormat>Panorámica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Calibri</vt:lpstr>
      <vt:lpstr>Plus Jakarta Sans</vt:lpstr>
      <vt:lpstr>JetBrains Mono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Echavarria</cp:lastModifiedBy>
  <cp:revision>1</cp:revision>
  <dcterms:created xsi:type="dcterms:W3CDTF">2013-01-27T09:14:16Z</dcterms:created>
  <dcterms:modified xsi:type="dcterms:W3CDTF">2026-10-23T14:46:31Z</dcterms:modified>
  <cp:category/>
</cp:coreProperties>
</file>